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1780505"/>
            <a:ext cx="46349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Customer Shopping Behavior Analysis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0023" y="2869183"/>
            <a:ext cx="4634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Uncovering spending patterns, customer segments, and product preferences from 3,900 transactions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2445" y="364554"/>
            <a:ext cx="3082528" cy="328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Dataset at a Glance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3842445" y="887388"/>
            <a:ext cx="4888111" cy="311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3,900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630168" y="1326059"/>
            <a:ext cx="1312664" cy="16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Purchases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842445" y="1730053"/>
            <a:ext cx="4888111" cy="389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18</a:t>
            </a:r>
            <a:endParaRPr lang="en-US" sz="3050" dirty="0"/>
          </a:p>
        </p:txBody>
      </p:sp>
      <p:sp>
        <p:nvSpPr>
          <p:cNvPr id="7" name="Text 4"/>
          <p:cNvSpPr/>
          <p:nvPr/>
        </p:nvSpPr>
        <p:spPr>
          <a:xfrm>
            <a:off x="5630168" y="2246709"/>
            <a:ext cx="1312664" cy="16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Columns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2445" y="2650703"/>
            <a:ext cx="4888111" cy="389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37</a:t>
            </a:r>
            <a:endParaRPr lang="en-US" sz="3050" dirty="0"/>
          </a:p>
        </p:txBody>
      </p:sp>
      <p:sp>
        <p:nvSpPr>
          <p:cNvPr id="9" name="Text 6"/>
          <p:cNvSpPr/>
          <p:nvPr/>
        </p:nvSpPr>
        <p:spPr>
          <a:xfrm>
            <a:off x="5630168" y="3167360"/>
            <a:ext cx="1312664" cy="16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842445" y="3385691"/>
            <a:ext cx="4888111" cy="166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Review Rating column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42445" y="3792513"/>
            <a:ext cx="4888111" cy="259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$59.76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630168" y="4179243"/>
            <a:ext cx="1312664" cy="16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Avg Purchase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42445" y="4445050"/>
            <a:ext cx="4888111" cy="333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Features span demographics, purchase details, and shopping behavior — including subscription status, discounts, and review ratings.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313" y="443731"/>
            <a:ext cx="4199781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Data Preparation in Python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313" y="1411784"/>
            <a:ext cx="5161880" cy="292499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0075" y="1205880"/>
            <a:ext cx="216991" cy="2169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95976" y="1201489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Clean &amp; Standardize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6495976" y="1537990"/>
            <a:ext cx="2146399" cy="672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Imputed missing Review Ratings by category median; renamed columns to snake_case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80075" y="2486248"/>
            <a:ext cx="216991" cy="2169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95976" y="2481858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6495976" y="2818358"/>
            <a:ext cx="2146399" cy="672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Created </a:t>
            </a:r>
            <a:pPr algn="l" indent="0" marL="0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age_group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</a:t>
            </a:r>
            <a:pPr algn="l" indent="0" marL="0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purchase_frequency_days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columns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80075" y="3766617"/>
            <a:ext cx="216991" cy="2169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95976" y="3762226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Load to PostgreSQL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6495976" y="4098727"/>
            <a:ext cx="2146399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Cleaned DataFrame exported to database for SQL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684833"/>
            <a:ext cx="38862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Revenue by Gender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518419"/>
            <a:ext cx="3843784" cy="27667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4956" y="1499146"/>
            <a:ext cx="21717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64956" y="1867719"/>
            <a:ext cx="384378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than female customers.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764956" y="2535064"/>
            <a:ext cx="1844725" cy="962099"/>
          </a:xfrm>
          <a:prstGeom prst="roundRect">
            <a:avLst>
              <a:gd name="adj" fmla="val 6736"/>
            </a:avLst>
          </a:prstGeom>
          <a:solidFill>
            <a:srgbClr val="191718">
              <a:alpha val="95000"/>
            </a:srgbClr>
          </a:solidFill>
          <a:ln w="19050">
            <a:solidFill>
              <a:srgbClr val="9220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38266" y="2708374"/>
            <a:ext cx="149810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Male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38266" y="3076947"/>
            <a:ext cx="149810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$157,890 total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763941" y="2535064"/>
            <a:ext cx="1844799" cy="962099"/>
          </a:xfrm>
          <a:prstGeom prst="roundRect">
            <a:avLst>
              <a:gd name="adj" fmla="val 6736"/>
            </a:avLst>
          </a:prstGeom>
          <a:solidFill>
            <a:srgbClr val="191718">
              <a:alpha val="95000"/>
            </a:srgbClr>
          </a:solidFill>
          <a:ln w="19050">
            <a:solidFill>
              <a:srgbClr val="9220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37251" y="2708374"/>
            <a:ext cx="14981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Female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937251" y="3076947"/>
            <a:ext cx="1498178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$75,191 total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388" y="389186"/>
            <a:ext cx="4592538" cy="361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Subscribers vs. Non-Subscribers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388" y="1039118"/>
            <a:ext cx="3833813" cy="27595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5562" y="1025426"/>
            <a:ext cx="1903809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Subscription Insights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35562" y="1316087"/>
            <a:ext cx="3833813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Non-subscribers drive </a:t>
            </a:r>
            <a:pPr algn="l" indent="0" marL="0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73% of total revenue</a:t>
            </a:r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but average spend is nearly identical.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79388" y="4045744"/>
            <a:ext cx="3937695" cy="708571"/>
          </a:xfrm>
          <a:prstGeom prst="roundRect">
            <a:avLst>
              <a:gd name="adj" fmla="val 7717"/>
            </a:avLst>
          </a:prstGeom>
          <a:solidFill>
            <a:srgbClr val="790709"/>
          </a:solidFill>
          <a:ln w="4763">
            <a:solidFill>
              <a:srgbClr val="9220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4301" y="4180656"/>
            <a:ext cx="1446609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Non-Subscribers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4301" y="4427339"/>
            <a:ext cx="3667869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2,847 customers · $59.87 avg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26918" y="4045744"/>
            <a:ext cx="3937695" cy="708571"/>
          </a:xfrm>
          <a:prstGeom prst="roundRect">
            <a:avLst>
              <a:gd name="adj" fmla="val 7717"/>
            </a:avLst>
          </a:prstGeom>
          <a:solidFill>
            <a:srgbClr val="790709"/>
          </a:solidFill>
          <a:ln w="4763">
            <a:solidFill>
              <a:srgbClr val="9220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61830" y="4180656"/>
            <a:ext cx="1446609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Subscribers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61830" y="4427339"/>
            <a:ext cx="3667869" cy="19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1,053 customers · $59.49 avg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1614" y="532656"/>
            <a:ext cx="3832622" cy="42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Products &amp; Discounts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531614" y="1178793"/>
            <a:ext cx="4651772" cy="883593"/>
          </a:xfrm>
          <a:prstGeom prst="roundRect">
            <a:avLst>
              <a:gd name="adj" fmla="val 10349"/>
            </a:avLst>
          </a:prstGeom>
          <a:solidFill>
            <a:srgbClr val="191718">
              <a:alpha val="95000"/>
            </a:srgbClr>
          </a:solidFill>
          <a:ln w="19050">
            <a:solidFill>
              <a:srgbClr val="92202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12564" y="1178793"/>
            <a:ext cx="76200" cy="883593"/>
          </a:xfrm>
          <a:prstGeom prst="roundRect">
            <a:avLst>
              <a:gd name="adj" fmla="val 83721"/>
            </a:avLst>
          </a:prstGeom>
          <a:solidFill>
            <a:srgbClr val="F65F62"/>
          </a:solidFill>
          <a:ln/>
        </p:spPr>
      </p:sp>
      <p:sp>
        <p:nvSpPr>
          <p:cNvPr id="6" name="Text 3"/>
          <p:cNvSpPr/>
          <p:nvPr/>
        </p:nvSpPr>
        <p:spPr>
          <a:xfrm>
            <a:off x="759693" y="1349722"/>
            <a:ext cx="1816224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Top 5 Products by Rating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59693" y="1650355"/>
            <a:ext cx="425276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Gloves (3.86) · Sandals (3.84) · Boots (3.82) · Hat (3.80) · Skirt (3.78)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1614" y="2211884"/>
            <a:ext cx="4651772" cy="1124694"/>
          </a:xfrm>
          <a:prstGeom prst="roundRect">
            <a:avLst>
              <a:gd name="adj" fmla="val 8130"/>
            </a:avLst>
          </a:prstGeom>
          <a:solidFill>
            <a:srgbClr val="191718">
              <a:alpha val="95000"/>
            </a:srgbClr>
          </a:solidFill>
          <a:ln w="19050">
            <a:solidFill>
              <a:srgbClr val="92202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2564" y="2211884"/>
            <a:ext cx="76200" cy="1124694"/>
          </a:xfrm>
          <a:prstGeom prst="roundRect">
            <a:avLst>
              <a:gd name="adj" fmla="val 83721"/>
            </a:avLst>
          </a:prstGeom>
          <a:solidFill>
            <a:srgbClr val="F65F62"/>
          </a:solidFill>
          <a:ln/>
        </p:spPr>
      </p:sp>
      <p:sp>
        <p:nvSpPr>
          <p:cNvPr id="10" name="Text 7"/>
          <p:cNvSpPr/>
          <p:nvPr/>
        </p:nvSpPr>
        <p:spPr>
          <a:xfrm>
            <a:off x="759693" y="2382813"/>
            <a:ext cx="1935287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Most Discounted Products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9693" y="2683446"/>
            <a:ext cx="4252764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Hat (50%) · Sneakers (49.7%) · Coat (49.1%) · Sweater (48.2%) · Pants (47.4%)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31614" y="3486076"/>
            <a:ext cx="4651772" cy="1124694"/>
          </a:xfrm>
          <a:prstGeom prst="roundRect">
            <a:avLst>
              <a:gd name="adj" fmla="val 8130"/>
            </a:avLst>
          </a:prstGeom>
          <a:solidFill>
            <a:srgbClr val="191718">
              <a:alpha val="95000"/>
            </a:srgbClr>
          </a:solidFill>
          <a:ln w="19050">
            <a:solidFill>
              <a:srgbClr val="92202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2564" y="3486076"/>
            <a:ext cx="76200" cy="1124694"/>
          </a:xfrm>
          <a:prstGeom prst="roundRect">
            <a:avLst>
              <a:gd name="adj" fmla="val 83721"/>
            </a:avLst>
          </a:prstGeom>
          <a:solidFill>
            <a:srgbClr val="F65F62"/>
          </a:solidFill>
          <a:ln/>
        </p:spPr>
      </p:sp>
      <p:sp>
        <p:nvSpPr>
          <p:cNvPr id="14" name="Text 11"/>
          <p:cNvSpPr/>
          <p:nvPr/>
        </p:nvSpPr>
        <p:spPr>
          <a:xfrm>
            <a:off x="759693" y="3657005"/>
            <a:ext cx="1687711" cy="210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Shipping Comparison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9693" y="3957637"/>
            <a:ext cx="4252764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Express: $60.48 avg vs. Standard: $58.46 avg — minimal difference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614809"/>
            <a:ext cx="410401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Customer Segmentation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448395"/>
            <a:ext cx="3843784" cy="27667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4956" y="1429122"/>
            <a:ext cx="21717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Segment Breakdown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64956" y="1797695"/>
            <a:ext cx="384378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80% of customers</a:t>
            </a:r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are classified as Loyal based on purchase history.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764956" y="2430363"/>
            <a:ext cx="3843784" cy="8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Loyal: 3,116 customers</a:t>
            </a:r>
            <a:endParaRPr lang="en-US" sz="12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Returning: 701 customers</a:t>
            </a:r>
            <a:endParaRPr lang="en-US" sz="12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New: 83 customers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64956" y="3452515"/>
            <a:ext cx="3843784" cy="902568"/>
          </a:xfrm>
          <a:prstGeom prst="roundRect">
            <a:avLst>
              <a:gd name="adj" fmla="val 7180"/>
            </a:avLst>
          </a:prstGeom>
          <a:solidFill>
            <a:srgbClr val="02234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216" y="3691310"/>
            <a:ext cx="192881" cy="1542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66358" y="3645322"/>
            <a:ext cx="318812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Repeat buyers with 5+ purchases: 958 subscribers vs. 2,518 non-subscribers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5420" y="399083"/>
            <a:ext cx="3403997" cy="368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Revenue by Age Group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420" y="1066502"/>
            <a:ext cx="3904804" cy="2810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8539" y="1052289"/>
            <a:ext cx="1930598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Age Group Insights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38539" y="1350392"/>
            <a:ext cx="3904804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Young Adults lead revenue, but all groups are </a:t>
            </a:r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F65F6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relatively balanced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opportunity across all segments.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1133" y="4133478"/>
            <a:ext cx="1955006" cy="28575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7" name="Text 4"/>
          <p:cNvSpPr/>
          <p:nvPr/>
        </p:nvSpPr>
        <p:spPr>
          <a:xfrm>
            <a:off x="505420" y="4294659"/>
            <a:ext cx="1473398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Young Adult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5420" y="4547146"/>
            <a:ext cx="1926431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$62,143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59993" y="4133478"/>
            <a:ext cx="1955081" cy="28575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10" name="Text 7"/>
          <p:cNvSpPr/>
          <p:nvPr/>
        </p:nvSpPr>
        <p:spPr>
          <a:xfrm>
            <a:off x="2574280" y="4294659"/>
            <a:ext cx="1473398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Middle-aged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574280" y="4547146"/>
            <a:ext cx="1926506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$59,197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28927" y="4133478"/>
            <a:ext cx="1955006" cy="28575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13" name="Text 10"/>
          <p:cNvSpPr/>
          <p:nvPr/>
        </p:nvSpPr>
        <p:spPr>
          <a:xfrm>
            <a:off x="4643214" y="4294659"/>
            <a:ext cx="1473398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Adult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643214" y="4547146"/>
            <a:ext cx="1926431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$55,978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697787" y="4133478"/>
            <a:ext cx="1955081" cy="28575"/>
          </a:xfrm>
          <a:prstGeom prst="rect">
            <a:avLst/>
          </a:prstGeom>
          <a:solidFill>
            <a:srgbClr val="F65F62"/>
          </a:solidFill>
          <a:ln/>
        </p:spPr>
      </p:sp>
      <p:sp>
        <p:nvSpPr>
          <p:cNvPr id="16" name="Text 13"/>
          <p:cNvSpPr/>
          <p:nvPr/>
        </p:nvSpPr>
        <p:spPr>
          <a:xfrm>
            <a:off x="6712074" y="4294659"/>
            <a:ext cx="1473398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Senior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712074" y="4547146"/>
            <a:ext cx="1926506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$55,763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1159743"/>
            <a:ext cx="38862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Power BI Dashboard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540023" y="1819796"/>
            <a:ext cx="2240310" cy="1128266"/>
          </a:xfrm>
          <a:prstGeom prst="roundRect">
            <a:avLst>
              <a:gd name="adj" fmla="val 5744"/>
            </a:avLst>
          </a:prstGeom>
          <a:solidFill>
            <a:srgbClr val="790709"/>
          </a:solidFill>
          <a:ln w="9525">
            <a:solidFill>
              <a:srgbClr val="92202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3808" y="1983581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KPIs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03808" y="2290465"/>
            <a:ext cx="1912739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3.9K customers · $59.76 avg purchase · 3.75 avg rating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34593" y="1819796"/>
            <a:ext cx="2240384" cy="1128266"/>
          </a:xfrm>
          <a:prstGeom prst="roundRect">
            <a:avLst>
              <a:gd name="adj" fmla="val 5744"/>
            </a:avLst>
          </a:prstGeom>
          <a:solidFill>
            <a:srgbClr val="790709"/>
          </a:solidFill>
          <a:ln w="9525">
            <a:solidFill>
              <a:srgbClr val="9220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98378" y="1983581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Filters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98378" y="2290465"/>
            <a:ext cx="1912813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Subscription, Gender, Category, Shipping Type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0023" y="3102322"/>
            <a:ext cx="4634954" cy="881360"/>
          </a:xfrm>
          <a:prstGeom prst="roundRect">
            <a:avLst>
              <a:gd name="adj" fmla="val 7353"/>
            </a:avLst>
          </a:prstGeom>
          <a:solidFill>
            <a:srgbClr val="790709"/>
          </a:solidFill>
          <a:ln w="9525">
            <a:solidFill>
              <a:srgbClr val="9220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3808" y="3266108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Visuals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03808" y="3572991"/>
            <a:ext cx="430738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Revenue &amp; Sales by Category and Age Group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0337" y="361504"/>
            <a:ext cx="3825478" cy="341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Business Recommendations</a:t>
            </a:r>
            <a:endParaRPr lang="en-US" sz="2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337" y="850032"/>
            <a:ext cx="307404" cy="3074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0337" y="1279847"/>
            <a:ext cx="1366242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Boost Subscriptions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430337" y="1509415"/>
            <a:ext cx="4854327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Promote exclusive subscriber benefits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337" y="1882006"/>
            <a:ext cx="307404" cy="3074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0337" y="2311822"/>
            <a:ext cx="1366242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Loyalty Programs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430337" y="2541389"/>
            <a:ext cx="4854327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Reward repeat buyers to grow Loyal segment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0337" y="2913980"/>
            <a:ext cx="307404" cy="3074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0337" y="3343796"/>
            <a:ext cx="1369665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Review Discount Policy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430337" y="3573363"/>
            <a:ext cx="4854327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Balance sales boosts with margin control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0337" y="3945954"/>
            <a:ext cx="307404" cy="30740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0337" y="4375770"/>
            <a:ext cx="1366242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Targeted Marketing</a:t>
            </a:r>
            <a:endParaRPr lang="en-US" sz="1050" dirty="0"/>
          </a:p>
        </p:txBody>
      </p:sp>
      <p:sp>
        <p:nvSpPr>
          <p:cNvPr id="15" name="Text 8"/>
          <p:cNvSpPr/>
          <p:nvPr/>
        </p:nvSpPr>
        <p:spPr>
          <a:xfrm>
            <a:off x="430337" y="4605338"/>
            <a:ext cx="4854327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Focus on high-revenue age groups &amp; express-shipping users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2026-05-22T17:40:59Z</dcterms:created>
  <dcterms:modified xsi:type="dcterms:W3CDTF">2026-05-22T17:40:59Z</dcterms:modified>
</cp:coreProperties>
</file>